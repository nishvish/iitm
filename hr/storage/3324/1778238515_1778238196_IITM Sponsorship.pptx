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885444"/>
            <a:ext cx="9144000" cy="3373120"/>
          </a:xfrm>
          <a:custGeom>
            <a:avLst/>
            <a:gdLst/>
            <a:ahLst/>
            <a:cxnLst/>
            <a:rect l="l" t="t" r="r" b="b"/>
            <a:pathLst>
              <a:path w="9144000" h="3373120">
                <a:moveTo>
                  <a:pt x="9144000" y="0"/>
                </a:moveTo>
                <a:lnTo>
                  <a:pt x="0" y="0"/>
                </a:lnTo>
                <a:lnTo>
                  <a:pt x="0" y="3372611"/>
                </a:lnTo>
                <a:lnTo>
                  <a:pt x="9144000" y="3372611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80" y="1666697"/>
            <a:ext cx="3667759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A622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622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622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A622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043" y="3637781"/>
            <a:ext cx="8439912" cy="107290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4291965"/>
          </a:xfrm>
          <a:custGeom>
            <a:avLst/>
            <a:gdLst/>
            <a:ahLst/>
            <a:cxnLst/>
            <a:rect l="l" t="t" r="r" b="b"/>
            <a:pathLst>
              <a:path w="9144000" h="4291965">
                <a:moveTo>
                  <a:pt x="9144000" y="0"/>
                </a:moveTo>
                <a:lnTo>
                  <a:pt x="0" y="0"/>
                </a:lnTo>
                <a:lnTo>
                  <a:pt x="0" y="4291584"/>
                </a:lnTo>
                <a:lnTo>
                  <a:pt x="9144000" y="429158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895" y="194694"/>
            <a:ext cx="8376208" cy="74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A6222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7467" y="968502"/>
            <a:ext cx="8629650" cy="1858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74354" y="5008939"/>
            <a:ext cx="220345" cy="149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itmindia.com/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://www.iitmindia.com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itmindia.com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itmindia.com/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hyperlink" Target="http://www.iitmindia.com/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hyperlink" Target="http://www.iitmindia.com/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://www.iitmindia.com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hyperlink" Target="http://www.iitmindia.com/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hyperlink" Target="http://www.iitmindia.com/" TargetMode="Externa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hyperlink" Target="http://www.iitmindia.com/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itmindia.com/" TargetMode="Externa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hyperlink" Target="http://www.spheretravelmedia.com/" TargetMode="External"/><Relationship Id="rId4" Type="http://schemas.openxmlformats.org/officeDocument/2006/relationships/hyperlink" Target="http://www.iitmindia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2925" y="4423359"/>
            <a:ext cx="4452620" cy="5435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200" b="1">
                <a:solidFill>
                  <a:srgbClr val="404040"/>
                </a:solidFill>
                <a:latin typeface="Verdana"/>
                <a:cs typeface="Verdana"/>
              </a:rPr>
              <a:t>INDIA’S</a:t>
            </a:r>
            <a:r>
              <a:rPr dirty="0" sz="1200" spc="-4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404040"/>
                </a:solidFill>
                <a:latin typeface="Verdana"/>
                <a:cs typeface="Verdana"/>
              </a:rPr>
              <a:t>PREMIER</a:t>
            </a:r>
            <a:r>
              <a:rPr dirty="0" sz="1200" spc="-2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404040"/>
                </a:solidFill>
                <a:latin typeface="Verdana"/>
                <a:cs typeface="Verdana"/>
              </a:rPr>
              <a:t>TRAVEL</a:t>
            </a:r>
            <a:r>
              <a:rPr dirty="0" sz="1200" spc="-2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1200" spc="-2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1200" spc="-2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404040"/>
                </a:solidFill>
                <a:latin typeface="Verdana"/>
                <a:cs typeface="Verdana"/>
              </a:rPr>
              <a:t>EXHIBITION</a:t>
            </a:r>
            <a:endParaRPr sz="12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600"/>
              </a:spcBef>
            </a:pPr>
            <a:r>
              <a:rPr dirty="0" sz="1200" spc="-10">
                <a:solidFill>
                  <a:srgbClr val="404040"/>
                </a:solidFill>
                <a:latin typeface="Verdana"/>
                <a:cs typeface="Verdana"/>
                <a:hlinkClick r:id="rId2"/>
              </a:rPr>
              <a:t>www.iitmindia.com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047615"/>
            <a:chOff x="0" y="0"/>
            <a:chExt cx="9144000" cy="50476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42031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631" y="4547614"/>
              <a:ext cx="3450336" cy="49987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86155" y="2476500"/>
            <a:ext cx="3447415" cy="228028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1079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3200" spc="-10">
                <a:solidFill>
                  <a:srgbClr val="FFFFFF"/>
                </a:solidFill>
                <a:latin typeface="Verdana"/>
                <a:cs typeface="Verdana"/>
              </a:rPr>
              <a:t>SPONSORSHIP</a:t>
            </a:r>
            <a:endParaRPr sz="3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ADVERTISING</a:t>
            </a:r>
            <a:endParaRPr sz="2400">
              <a:latin typeface="Verdana"/>
              <a:cs typeface="Verdana"/>
            </a:endParaRPr>
          </a:p>
          <a:p>
            <a:pPr algn="ctr" marL="458470" marR="450215" indent="-2540">
              <a:lnSpc>
                <a:spcPct val="106200"/>
              </a:lnSpc>
              <a:spcBef>
                <a:spcPts val="45"/>
              </a:spcBef>
            </a:pPr>
            <a:r>
              <a:rPr dirty="0" sz="2400">
                <a:solidFill>
                  <a:srgbClr val="FFFFFF"/>
                </a:solidFill>
                <a:latin typeface="Verdana"/>
                <a:cs typeface="Verdana"/>
              </a:rPr>
              <a:t>BRANDING</a:t>
            </a:r>
            <a:r>
              <a:rPr dirty="0" sz="2400" spc="-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Verdana"/>
                <a:cs typeface="Verdana"/>
              </a:rPr>
              <a:t>&amp; </a:t>
            </a:r>
            <a:r>
              <a:rPr dirty="0" sz="2400" spc="-10">
                <a:solidFill>
                  <a:srgbClr val="FFFFFF"/>
                </a:solidFill>
                <a:latin typeface="Verdana"/>
                <a:cs typeface="Verdana"/>
              </a:rPr>
              <a:t>MARKETING </a:t>
            </a:r>
            <a:r>
              <a:rPr dirty="0" sz="2400" spc="-20">
                <a:solidFill>
                  <a:srgbClr val="FFFFFF"/>
                </a:solidFill>
                <a:latin typeface="Verdana"/>
                <a:cs typeface="Verdana"/>
              </a:rPr>
              <a:t>OPPORTUNITIES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49540" y="251459"/>
            <a:ext cx="1147572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1428750">
              <a:lnSpc>
                <a:spcPct val="100000"/>
              </a:lnSpc>
              <a:spcBef>
                <a:spcPts val="100"/>
              </a:spcBef>
            </a:pPr>
            <a:r>
              <a:rPr dirty="0"/>
              <a:t>SPONSORSHIP</a:t>
            </a:r>
            <a:r>
              <a:rPr dirty="0" spc="-90"/>
              <a:t> </a:t>
            </a:r>
            <a:r>
              <a:rPr dirty="0" spc="-10"/>
              <a:t>OPPORTUNITIES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213103"/>
            <a:ext cx="9144000" cy="3447415"/>
            <a:chOff x="0" y="1213103"/>
            <a:chExt cx="9144000" cy="34474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471" y="1213103"/>
              <a:ext cx="2700528" cy="34472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1213103"/>
              <a:ext cx="6422390" cy="3447415"/>
            </a:xfrm>
            <a:custGeom>
              <a:avLst/>
              <a:gdLst/>
              <a:ahLst/>
              <a:cxnLst/>
              <a:rect l="l" t="t" r="r" b="b"/>
              <a:pathLst>
                <a:path w="6422390" h="3447415">
                  <a:moveTo>
                    <a:pt x="6422136" y="0"/>
                  </a:moveTo>
                  <a:lnTo>
                    <a:pt x="0" y="0"/>
                  </a:lnTo>
                  <a:lnTo>
                    <a:pt x="0" y="3447288"/>
                  </a:lnTo>
                  <a:lnTo>
                    <a:pt x="6422136" y="3447288"/>
                  </a:lnTo>
                  <a:lnTo>
                    <a:pt x="642213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89356" y="1780159"/>
            <a:ext cx="5934710" cy="2312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5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Sponsorship</a:t>
            </a:r>
            <a:r>
              <a:rPr dirty="0" sz="1400" spc="-6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opportunities</a:t>
            </a:r>
            <a:r>
              <a:rPr dirty="0" sz="1400" spc="-6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provide</a:t>
            </a:r>
            <a:r>
              <a:rPr dirty="0" sz="14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cost-effective</a:t>
            </a:r>
            <a:r>
              <a:rPr dirty="0" sz="1400" spc="-7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ways</a:t>
            </a:r>
            <a:r>
              <a:rPr dirty="0" sz="1400" spc="-6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endParaRPr sz="14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reaching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targeted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audience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greater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impact.</a:t>
            </a:r>
            <a:endParaRPr sz="1400">
              <a:latin typeface="Verdana"/>
              <a:cs typeface="Verdana"/>
            </a:endParaRPr>
          </a:p>
          <a:p>
            <a:pPr marL="194945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These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not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only</a:t>
            </a:r>
            <a:r>
              <a:rPr dirty="0" sz="14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offer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excellent</a:t>
            </a:r>
            <a:r>
              <a:rPr dirty="0" sz="1400" spc="-6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opportunities</a:t>
            </a:r>
            <a:r>
              <a:rPr dirty="0" sz="14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quality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audience,</a:t>
            </a:r>
            <a:r>
              <a:rPr dirty="0" sz="14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but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give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wider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reach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across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various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media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vehicles.</a:t>
            </a:r>
            <a:endParaRPr sz="14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Increase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visibility</a:t>
            </a:r>
            <a:r>
              <a:rPr dirty="0" sz="1400" spc="-6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target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audience,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position</a:t>
            </a:r>
            <a:endParaRPr sz="14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company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industry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leader.</a:t>
            </a:r>
            <a:endParaRPr sz="1400">
              <a:latin typeface="Verdana"/>
              <a:cs typeface="Verdana"/>
            </a:endParaRPr>
          </a:p>
          <a:p>
            <a:pPr marL="194945" marR="84836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Sponsorship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provides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4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variety</a:t>
            </a:r>
            <a:r>
              <a:rPr dirty="0" sz="14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innovative</a:t>
            </a:r>
            <a:r>
              <a:rPr dirty="0" sz="1400" spc="-6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branding,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marketing</a:t>
            </a:r>
            <a:r>
              <a:rPr dirty="0" sz="1400" spc="-7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14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promotional</a:t>
            </a:r>
            <a:r>
              <a:rPr dirty="0" sz="1400" spc="-7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opportunities.</a:t>
            </a:r>
            <a:endParaRPr sz="14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tailor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make</a:t>
            </a:r>
            <a:r>
              <a:rPr dirty="0" sz="14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 needs-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14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terms</a:t>
            </a:r>
            <a:r>
              <a:rPr dirty="0" sz="14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size</a:t>
            </a:r>
            <a:r>
              <a:rPr dirty="0" sz="14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1400" spc="4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14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Verdana"/>
                <a:cs typeface="Verdana"/>
              </a:rPr>
              <a:t>budget.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10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15"/>
              </a:spcBef>
            </a:pPr>
            <a:r>
              <a:rPr dirty="0"/>
              <a:t>IITM</a:t>
            </a:r>
            <a:r>
              <a:rPr dirty="0" spc="-55"/>
              <a:t> </a:t>
            </a:r>
            <a:r>
              <a:rPr dirty="0"/>
              <a:t>SPONSORSHIP</a:t>
            </a:r>
            <a:r>
              <a:rPr dirty="0" spc="-60"/>
              <a:t> </a:t>
            </a:r>
            <a:r>
              <a:rPr dirty="0" spc="-10"/>
              <a:t>OPTIONS</a:t>
            </a: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1600" spc="-2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sponsor</a:t>
            </a:r>
            <a:r>
              <a:rPr dirty="0" sz="1600" spc="-2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1600" spc="-5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largest</a:t>
            </a:r>
            <a:r>
              <a:rPr dirty="0" sz="1600" spc="-4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25" b="0">
                <a:solidFill>
                  <a:srgbClr val="404040"/>
                </a:solidFill>
                <a:latin typeface="Verdana"/>
                <a:cs typeface="Verdana"/>
              </a:rPr>
              <a:t>Travel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10" b="0">
                <a:solidFill>
                  <a:srgbClr val="404040"/>
                </a:solidFill>
                <a:latin typeface="Verdana"/>
                <a:cs typeface="Verdana"/>
              </a:rPr>
              <a:t>Tourism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Exhibitions</a:t>
            </a:r>
            <a:r>
              <a:rPr dirty="0" sz="1600" spc="-1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1600" spc="-6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10" b="0">
                <a:solidFill>
                  <a:srgbClr val="404040"/>
                </a:solidFill>
                <a:latin typeface="Verdana"/>
                <a:cs typeface="Verdana"/>
              </a:rPr>
              <a:t>India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13103"/>
            <a:ext cx="9144000" cy="3627120"/>
          </a:xfrm>
          <a:custGeom>
            <a:avLst/>
            <a:gdLst/>
            <a:ahLst/>
            <a:cxnLst/>
            <a:rect l="l" t="t" r="r" b="b"/>
            <a:pathLst>
              <a:path w="9144000" h="3627120">
                <a:moveTo>
                  <a:pt x="9144000" y="0"/>
                </a:moveTo>
                <a:lnTo>
                  <a:pt x="0" y="0"/>
                </a:lnTo>
                <a:lnTo>
                  <a:pt x="0" y="3627120"/>
                </a:lnTo>
                <a:lnTo>
                  <a:pt x="9144000" y="3627120"/>
                </a:lnTo>
                <a:lnTo>
                  <a:pt x="9144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9356" y="1358011"/>
            <a:ext cx="2598420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PLATINUM</a:t>
            </a:r>
            <a:r>
              <a:rPr dirty="0" sz="1600" spc="-9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PARTNER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25,00,000/-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56" y="1807591"/>
            <a:ext cx="2702560" cy="272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73660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marketing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collateral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Platinum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Partner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(Pre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EDMs,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Media,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Outdoor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Campaigns,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Venue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etc.)</a:t>
            </a:r>
            <a:endParaRPr sz="900">
              <a:latin typeface="Verdana"/>
              <a:cs typeface="Verdana"/>
            </a:endParaRPr>
          </a:p>
          <a:p>
            <a:pPr marL="194945" marR="7937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recognized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Platinum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at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release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endParaRPr sz="900">
              <a:latin typeface="Verdana"/>
              <a:cs typeface="Verdana"/>
            </a:endParaRPr>
          </a:p>
          <a:p>
            <a:pPr marL="194945" marR="22352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54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(6*9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Mtrs)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stall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expo</a:t>
            </a:r>
            <a:endParaRPr sz="900">
              <a:latin typeface="Verdana"/>
              <a:cs typeface="Verdana"/>
            </a:endParaRPr>
          </a:p>
          <a:p>
            <a:pPr marL="194945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4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Pages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advertisement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exclusive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directory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circulated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over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1500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key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persons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industry</a:t>
            </a:r>
            <a:endParaRPr sz="900">
              <a:latin typeface="Verdana"/>
              <a:cs typeface="Verdana"/>
            </a:endParaRPr>
          </a:p>
          <a:p>
            <a:pPr marL="194945" marR="317500" indent="-182880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slots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MC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announcements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endParaRPr sz="900">
              <a:latin typeface="Verdana"/>
              <a:cs typeface="Verdana"/>
            </a:endParaRPr>
          </a:p>
          <a:p>
            <a:pPr marL="194945" marR="2717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12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passes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Networking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Lunches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&amp;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Dinners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acknowledgment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 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IITM</a:t>
            </a:r>
            <a:endParaRPr sz="9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Awards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Night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Ceremony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5385" y="1358011"/>
            <a:ext cx="2598420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GOLD</a:t>
            </a:r>
            <a:r>
              <a:rPr dirty="0" sz="1600" spc="-4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PARTNER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(3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15,00,000/-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5385" y="1807591"/>
            <a:ext cx="2704465" cy="2449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15875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marketing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collateral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Gold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(Pre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EDMs,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Media,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&amp;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Outdoor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Campaigns,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Venue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Branding,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etc.)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recognized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Gold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endParaRPr sz="9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Release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event.</a:t>
            </a:r>
            <a:endParaRPr sz="900">
              <a:latin typeface="Verdana"/>
              <a:cs typeface="Verdana"/>
            </a:endParaRPr>
          </a:p>
          <a:p>
            <a:pPr marL="194945" marR="22606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27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(3*9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Mtrs)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stall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expo</a:t>
            </a:r>
            <a:endParaRPr sz="900">
              <a:latin typeface="Verdana"/>
              <a:cs typeface="Verdana"/>
            </a:endParaRPr>
          </a:p>
          <a:p>
            <a:pPr marL="194945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Page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advertisement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exclusive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directory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circulated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over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1500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key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persons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industry.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MC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announcements</a:t>
            </a:r>
            <a:r>
              <a:rPr dirty="0" sz="900" spc="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 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event.</a:t>
            </a:r>
            <a:endParaRPr sz="900">
              <a:latin typeface="Verdana"/>
              <a:cs typeface="Verdana"/>
            </a:endParaRPr>
          </a:p>
          <a:p>
            <a:pPr marL="194945" marR="27813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8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passes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networking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dinners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event.</a:t>
            </a:r>
            <a:endParaRPr sz="900">
              <a:latin typeface="Verdana"/>
              <a:cs typeface="Verdana"/>
            </a:endParaRPr>
          </a:p>
          <a:p>
            <a:pPr marL="194945" marR="14541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acknowledgment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 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IITM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awards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night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ceremony.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465" y="1358011"/>
            <a:ext cx="2562225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SILVER</a:t>
            </a:r>
            <a:r>
              <a:rPr dirty="0" sz="1600" spc="-7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PARTNER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(5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slots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8,00,000/-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1465" y="1807591"/>
            <a:ext cx="2696845" cy="2273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marR="243204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marketing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collateral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Silver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Partner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(Pre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EDMs,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Media,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Outdoor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Campaigns,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Venue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etc.)</a:t>
            </a:r>
            <a:endParaRPr sz="900">
              <a:latin typeface="Verdana"/>
              <a:cs typeface="Verdana"/>
            </a:endParaRPr>
          </a:p>
          <a:p>
            <a:pPr marL="195580" marR="20193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12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(3*4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Mtrs)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Stall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the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Expo</a:t>
            </a:r>
            <a:endParaRPr sz="900">
              <a:latin typeface="Verdana"/>
              <a:cs typeface="Verdana"/>
            </a:endParaRPr>
          </a:p>
          <a:p>
            <a:pPr marL="195580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Quarter Pages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advertisement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exclusive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directory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circulated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6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over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2000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persons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industry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MC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announcements</a:t>
            </a:r>
            <a:r>
              <a:rPr dirty="0" sz="900" spc="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 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endParaRPr sz="900">
              <a:latin typeface="Verdana"/>
              <a:cs typeface="Verdana"/>
            </a:endParaRPr>
          </a:p>
          <a:p>
            <a:pPr marL="195580" marR="210820" indent="-182880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5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passes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Networking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Lunches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Dinners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endParaRPr sz="900">
              <a:latin typeface="Verdana"/>
              <a:cs typeface="Verdana"/>
            </a:endParaRPr>
          </a:p>
          <a:p>
            <a:pPr marL="195580" marR="13716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acknowledgment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during 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IITM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Awards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Night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Ceremony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8960" y="1371600"/>
            <a:ext cx="2926080" cy="3310890"/>
          </a:xfrm>
          <a:custGeom>
            <a:avLst/>
            <a:gdLst/>
            <a:ahLst/>
            <a:cxnLst/>
            <a:rect l="l" t="t" r="r" b="b"/>
            <a:pathLst>
              <a:path w="2926079" h="3310890">
                <a:moveTo>
                  <a:pt x="2926079" y="0"/>
                </a:moveTo>
                <a:lnTo>
                  <a:pt x="2926079" y="3310661"/>
                </a:lnTo>
              </a:path>
              <a:path w="2926079" h="3310890">
                <a:moveTo>
                  <a:pt x="0" y="0"/>
                </a:moveTo>
                <a:lnTo>
                  <a:pt x="0" y="3310661"/>
                </a:lnTo>
              </a:path>
            </a:pathLst>
          </a:custGeom>
          <a:ln w="6096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10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15"/>
              </a:spcBef>
            </a:pPr>
            <a:r>
              <a:rPr dirty="0"/>
              <a:t>IITM</a:t>
            </a:r>
            <a:r>
              <a:rPr dirty="0" spc="-50"/>
              <a:t> </a:t>
            </a:r>
            <a:r>
              <a:rPr dirty="0"/>
              <a:t>SPONSORSHIP</a:t>
            </a:r>
            <a:r>
              <a:rPr dirty="0" spc="-55"/>
              <a:t> </a:t>
            </a:r>
            <a:r>
              <a:rPr dirty="0" spc="-10"/>
              <a:t>OPTIONS</a:t>
            </a: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premium</a:t>
            </a:r>
            <a:r>
              <a:rPr dirty="0" sz="1600" spc="-1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sponsor</a:t>
            </a:r>
            <a:r>
              <a:rPr dirty="0" sz="1600" spc="-1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1600" spc="-4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1600" spc="-5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largest</a:t>
            </a:r>
            <a:r>
              <a:rPr dirty="0" sz="1600" spc="-3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25" b="0">
                <a:solidFill>
                  <a:srgbClr val="404040"/>
                </a:solidFill>
                <a:latin typeface="Verdana"/>
                <a:cs typeface="Verdana"/>
              </a:rPr>
              <a:t>Travel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1600" spc="-4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20" b="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1600" spc="-15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Exhibitions</a:t>
            </a:r>
            <a:r>
              <a:rPr dirty="0" sz="1600" spc="-1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b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1600" spc="-40" b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1600" spc="-10" b="0">
                <a:solidFill>
                  <a:srgbClr val="404040"/>
                </a:solidFill>
                <a:latin typeface="Verdana"/>
                <a:cs typeface="Verdana"/>
              </a:rPr>
              <a:t>India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213103"/>
            <a:ext cx="9144000" cy="3627120"/>
          </a:xfrm>
          <a:custGeom>
            <a:avLst/>
            <a:gdLst/>
            <a:ahLst/>
            <a:cxnLst/>
            <a:rect l="l" t="t" r="r" b="b"/>
            <a:pathLst>
              <a:path w="9144000" h="3627120">
                <a:moveTo>
                  <a:pt x="9144000" y="0"/>
                </a:moveTo>
                <a:lnTo>
                  <a:pt x="0" y="0"/>
                </a:lnTo>
                <a:lnTo>
                  <a:pt x="0" y="3627120"/>
                </a:lnTo>
                <a:lnTo>
                  <a:pt x="9144000" y="3627120"/>
                </a:lnTo>
                <a:lnTo>
                  <a:pt x="9144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9356" y="1358011"/>
            <a:ext cx="2622550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AWARDS</a:t>
            </a:r>
            <a:r>
              <a:rPr dirty="0" sz="1600" spc="-7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FUNCTION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15,00,000/-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56" y="1807591"/>
            <a:ext cx="2700655" cy="2510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IITM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Awards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function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unique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opportunity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host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biggest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gathering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leading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inbound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&amp;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outbound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faculty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from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industry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exclusive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award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ceremony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organized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felicitate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key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achievers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followed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extravagant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cocktail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dinner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city.</a:t>
            </a:r>
            <a:endParaRPr sz="900">
              <a:latin typeface="Verdana"/>
              <a:cs typeface="Verdana"/>
            </a:endParaRPr>
          </a:p>
          <a:p>
            <a:pPr algn="just" marL="194945" marR="11303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10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minutes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present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company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front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250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300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leading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members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tourism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fraternity</a:t>
            </a:r>
            <a:endParaRPr sz="900">
              <a:latin typeface="Verdana"/>
              <a:cs typeface="Verdana"/>
            </a:endParaRPr>
          </a:p>
          <a:p>
            <a:pPr algn="just"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Ample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Night</a:t>
            </a:r>
            <a:endParaRPr sz="900">
              <a:latin typeface="Verdana"/>
              <a:cs typeface="Verdana"/>
            </a:endParaRPr>
          </a:p>
          <a:p>
            <a:pPr algn="just" marL="194945" indent="-182245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18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(3*6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Mtrs)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Stall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Expo</a:t>
            </a:r>
            <a:endParaRPr sz="900">
              <a:latin typeface="Verdana"/>
              <a:cs typeface="Verdana"/>
            </a:endParaRPr>
          </a:p>
          <a:p>
            <a:pPr marL="194945" marR="4064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marketing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collateral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(Pre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Post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EDMs,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Social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Media,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Outdoor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Campaigns,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Venue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etc.)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5385" y="1358011"/>
            <a:ext cx="2510155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REGISTRATION</a:t>
            </a:r>
            <a:r>
              <a:rPr dirty="0" sz="1600" spc="-13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A62221"/>
                </a:solidFill>
                <a:latin typeface="Verdana"/>
                <a:cs typeface="Verdana"/>
              </a:rPr>
              <a:t>DESK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4,00,000/-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5385" y="1807591"/>
            <a:ext cx="2588895" cy="1824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48260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Make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visible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very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first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point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contact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exhibitors,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delegates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visitors.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Right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round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registration</a:t>
            </a:r>
            <a:endParaRPr sz="9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</a:pP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area</a:t>
            </a:r>
            <a:endParaRPr sz="900">
              <a:latin typeface="Verdana"/>
              <a:cs typeface="Verdana"/>
            </a:endParaRPr>
          </a:p>
          <a:p>
            <a:pPr marL="194945" marR="16764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9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(3*3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Mtrs)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Stall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Expo</a:t>
            </a:r>
            <a:endParaRPr sz="900">
              <a:latin typeface="Verdana"/>
              <a:cs typeface="Verdana"/>
            </a:endParaRPr>
          </a:p>
          <a:p>
            <a:pPr marL="194945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space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marketing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collateral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(Pre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Post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EDMs,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Social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Media,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Print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Outdoor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Campaigns,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Venue</a:t>
            </a:r>
            <a:endParaRPr sz="900">
              <a:latin typeface="Verdana"/>
              <a:cs typeface="Verdana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Branding,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etc.)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1465" y="1358011"/>
            <a:ext cx="2696210" cy="2411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NETWORKING</a:t>
            </a:r>
            <a:r>
              <a:rPr dirty="0" sz="1600" spc="-10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DINNER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slots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15,00,000/-</a:t>
            </a:r>
            <a:endParaRPr sz="1100">
              <a:latin typeface="Verdana"/>
              <a:cs typeface="Verdana"/>
            </a:endParaRPr>
          </a:p>
          <a:p>
            <a:pPr marL="195580" marR="16700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unique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opportunity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Partner,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host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biggest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gathering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leading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inbound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operators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Foreign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Operators.</a:t>
            </a:r>
            <a:endParaRPr sz="900">
              <a:latin typeface="Verdana"/>
              <a:cs typeface="Verdana"/>
            </a:endParaRPr>
          </a:p>
          <a:p>
            <a:pPr marL="195580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Playing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host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exclusive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gathering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for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250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300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leading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operators,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hoteliers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media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definitely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enhance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your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recall!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 spc="-10" b="1">
                <a:solidFill>
                  <a:srgbClr val="404040"/>
                </a:solidFill>
                <a:latin typeface="Verdana"/>
                <a:cs typeface="Verdana"/>
              </a:rPr>
              <a:t>Benefits:</a:t>
            </a:r>
            <a:endParaRPr sz="900">
              <a:latin typeface="Verdana"/>
              <a:cs typeface="Verdana"/>
            </a:endParaRPr>
          </a:p>
          <a:p>
            <a:pPr marL="195580" marR="8064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18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Sq.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Metre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booth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single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IITM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event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location</a:t>
            </a:r>
            <a:endParaRPr sz="900">
              <a:latin typeface="Verdana"/>
              <a:cs typeface="Verdana"/>
            </a:endParaRPr>
          </a:p>
          <a:p>
            <a:pPr marL="195580" marR="41910" indent="-182880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5580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Branding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Partner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marketing collaterals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08960" y="1371600"/>
            <a:ext cx="2926080" cy="3310890"/>
          </a:xfrm>
          <a:custGeom>
            <a:avLst/>
            <a:gdLst/>
            <a:ahLst/>
            <a:cxnLst/>
            <a:rect l="l" t="t" r="r" b="b"/>
            <a:pathLst>
              <a:path w="2926079" h="3310890">
                <a:moveTo>
                  <a:pt x="2926079" y="0"/>
                </a:moveTo>
                <a:lnTo>
                  <a:pt x="2926079" y="3310661"/>
                </a:lnTo>
              </a:path>
              <a:path w="2926079" h="3310890">
                <a:moveTo>
                  <a:pt x="0" y="0"/>
                </a:moveTo>
                <a:lnTo>
                  <a:pt x="0" y="3310661"/>
                </a:lnTo>
              </a:path>
            </a:pathLst>
          </a:custGeom>
          <a:ln w="6096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3103"/>
            <a:ext cx="2700527" cy="34472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734056" y="1213103"/>
            <a:ext cx="6410325" cy="3447415"/>
          </a:xfrm>
          <a:custGeom>
            <a:avLst/>
            <a:gdLst/>
            <a:ahLst/>
            <a:cxnLst/>
            <a:rect l="l" t="t" r="r" b="b"/>
            <a:pathLst>
              <a:path w="6410325" h="3447415">
                <a:moveTo>
                  <a:pt x="2115312" y="1909318"/>
                </a:moveTo>
                <a:lnTo>
                  <a:pt x="2109216" y="1864029"/>
                </a:lnTo>
                <a:lnTo>
                  <a:pt x="2092032" y="1823313"/>
                </a:lnTo>
                <a:lnTo>
                  <a:pt x="2065375" y="1788820"/>
                </a:lnTo>
                <a:lnTo>
                  <a:pt x="2030882" y="1762163"/>
                </a:lnTo>
                <a:lnTo>
                  <a:pt x="1990166" y="1744980"/>
                </a:lnTo>
                <a:lnTo>
                  <a:pt x="1944878" y="1738884"/>
                </a:lnTo>
                <a:lnTo>
                  <a:pt x="170434" y="1738884"/>
                </a:lnTo>
                <a:lnTo>
                  <a:pt x="125133" y="1744980"/>
                </a:lnTo>
                <a:lnTo>
                  <a:pt x="84416" y="1762163"/>
                </a:lnTo>
                <a:lnTo>
                  <a:pt x="49923" y="1788820"/>
                </a:lnTo>
                <a:lnTo>
                  <a:pt x="23266" y="1823313"/>
                </a:lnTo>
                <a:lnTo>
                  <a:pt x="6083" y="1864029"/>
                </a:lnTo>
                <a:lnTo>
                  <a:pt x="0" y="1909318"/>
                </a:lnTo>
                <a:lnTo>
                  <a:pt x="0" y="3276854"/>
                </a:lnTo>
                <a:lnTo>
                  <a:pt x="6083" y="3322167"/>
                </a:lnTo>
                <a:lnTo>
                  <a:pt x="23266" y="3362883"/>
                </a:lnTo>
                <a:lnTo>
                  <a:pt x="49923" y="3397377"/>
                </a:lnTo>
                <a:lnTo>
                  <a:pt x="84416" y="3424021"/>
                </a:lnTo>
                <a:lnTo>
                  <a:pt x="125133" y="3441204"/>
                </a:lnTo>
                <a:lnTo>
                  <a:pt x="170434" y="3447288"/>
                </a:lnTo>
                <a:lnTo>
                  <a:pt x="1944878" y="3447288"/>
                </a:lnTo>
                <a:lnTo>
                  <a:pt x="1990166" y="3441204"/>
                </a:lnTo>
                <a:lnTo>
                  <a:pt x="2030882" y="3424021"/>
                </a:lnTo>
                <a:lnTo>
                  <a:pt x="2065375" y="3397377"/>
                </a:lnTo>
                <a:lnTo>
                  <a:pt x="2092032" y="3362883"/>
                </a:lnTo>
                <a:lnTo>
                  <a:pt x="2109216" y="3322167"/>
                </a:lnTo>
                <a:lnTo>
                  <a:pt x="2115312" y="3276854"/>
                </a:lnTo>
                <a:lnTo>
                  <a:pt x="2115312" y="1909318"/>
                </a:lnTo>
                <a:close/>
              </a:path>
              <a:path w="6410325" h="3447415">
                <a:moveTo>
                  <a:pt x="2115312" y="170434"/>
                </a:moveTo>
                <a:lnTo>
                  <a:pt x="2109216" y="125145"/>
                </a:lnTo>
                <a:lnTo>
                  <a:pt x="2092032" y="84429"/>
                </a:lnTo>
                <a:lnTo>
                  <a:pt x="2065375" y="49936"/>
                </a:lnTo>
                <a:lnTo>
                  <a:pt x="2030882" y="23279"/>
                </a:lnTo>
                <a:lnTo>
                  <a:pt x="1990166" y="6096"/>
                </a:lnTo>
                <a:lnTo>
                  <a:pt x="1944878" y="0"/>
                </a:lnTo>
                <a:lnTo>
                  <a:pt x="170434" y="0"/>
                </a:lnTo>
                <a:lnTo>
                  <a:pt x="125133" y="6096"/>
                </a:lnTo>
                <a:lnTo>
                  <a:pt x="84416" y="23279"/>
                </a:lnTo>
                <a:lnTo>
                  <a:pt x="49923" y="49936"/>
                </a:lnTo>
                <a:lnTo>
                  <a:pt x="23266" y="84429"/>
                </a:lnTo>
                <a:lnTo>
                  <a:pt x="6083" y="125145"/>
                </a:lnTo>
                <a:lnTo>
                  <a:pt x="0" y="170434"/>
                </a:lnTo>
                <a:lnTo>
                  <a:pt x="0" y="1537970"/>
                </a:lnTo>
                <a:lnTo>
                  <a:pt x="6083" y="1583270"/>
                </a:lnTo>
                <a:lnTo>
                  <a:pt x="23266" y="1623987"/>
                </a:lnTo>
                <a:lnTo>
                  <a:pt x="49923" y="1658480"/>
                </a:lnTo>
                <a:lnTo>
                  <a:pt x="84416" y="1685137"/>
                </a:lnTo>
                <a:lnTo>
                  <a:pt x="125133" y="1702320"/>
                </a:lnTo>
                <a:lnTo>
                  <a:pt x="170434" y="1708404"/>
                </a:lnTo>
                <a:lnTo>
                  <a:pt x="1944878" y="1708404"/>
                </a:lnTo>
                <a:lnTo>
                  <a:pt x="1990166" y="1702320"/>
                </a:lnTo>
                <a:lnTo>
                  <a:pt x="2030882" y="1685137"/>
                </a:lnTo>
                <a:lnTo>
                  <a:pt x="2065375" y="1658480"/>
                </a:lnTo>
                <a:lnTo>
                  <a:pt x="2092032" y="1623987"/>
                </a:lnTo>
                <a:lnTo>
                  <a:pt x="2109216" y="1583270"/>
                </a:lnTo>
                <a:lnTo>
                  <a:pt x="2115312" y="1537970"/>
                </a:lnTo>
                <a:lnTo>
                  <a:pt x="2115312" y="170434"/>
                </a:lnTo>
                <a:close/>
              </a:path>
              <a:path w="6410325" h="3447415">
                <a:moveTo>
                  <a:pt x="4262628" y="1909318"/>
                </a:moveTo>
                <a:lnTo>
                  <a:pt x="4256532" y="1864029"/>
                </a:lnTo>
                <a:lnTo>
                  <a:pt x="4239349" y="1823313"/>
                </a:lnTo>
                <a:lnTo>
                  <a:pt x="4212691" y="1788820"/>
                </a:lnTo>
                <a:lnTo>
                  <a:pt x="4178198" y="1762163"/>
                </a:lnTo>
                <a:lnTo>
                  <a:pt x="4137482" y="1744980"/>
                </a:lnTo>
                <a:lnTo>
                  <a:pt x="4092194" y="1738884"/>
                </a:lnTo>
                <a:lnTo>
                  <a:pt x="2317750" y="1738884"/>
                </a:lnTo>
                <a:lnTo>
                  <a:pt x="2272449" y="1744980"/>
                </a:lnTo>
                <a:lnTo>
                  <a:pt x="2231733" y="1762163"/>
                </a:lnTo>
                <a:lnTo>
                  <a:pt x="2197239" y="1788820"/>
                </a:lnTo>
                <a:lnTo>
                  <a:pt x="2170582" y="1823313"/>
                </a:lnTo>
                <a:lnTo>
                  <a:pt x="2153399" y="1864029"/>
                </a:lnTo>
                <a:lnTo>
                  <a:pt x="2147316" y="1909318"/>
                </a:lnTo>
                <a:lnTo>
                  <a:pt x="2147316" y="3276854"/>
                </a:lnTo>
                <a:lnTo>
                  <a:pt x="2153399" y="3322167"/>
                </a:lnTo>
                <a:lnTo>
                  <a:pt x="2170582" y="3362883"/>
                </a:lnTo>
                <a:lnTo>
                  <a:pt x="2197239" y="3397377"/>
                </a:lnTo>
                <a:lnTo>
                  <a:pt x="2231733" y="3424021"/>
                </a:lnTo>
                <a:lnTo>
                  <a:pt x="2272449" y="3441204"/>
                </a:lnTo>
                <a:lnTo>
                  <a:pt x="2317750" y="3447288"/>
                </a:lnTo>
                <a:lnTo>
                  <a:pt x="4092194" y="3447288"/>
                </a:lnTo>
                <a:lnTo>
                  <a:pt x="4137482" y="3441204"/>
                </a:lnTo>
                <a:lnTo>
                  <a:pt x="4178198" y="3424021"/>
                </a:lnTo>
                <a:lnTo>
                  <a:pt x="4212691" y="3397377"/>
                </a:lnTo>
                <a:lnTo>
                  <a:pt x="4239349" y="3362883"/>
                </a:lnTo>
                <a:lnTo>
                  <a:pt x="4256532" y="3322167"/>
                </a:lnTo>
                <a:lnTo>
                  <a:pt x="4262628" y="3276854"/>
                </a:lnTo>
                <a:lnTo>
                  <a:pt x="4262628" y="1909318"/>
                </a:lnTo>
                <a:close/>
              </a:path>
              <a:path w="6410325" h="3447415">
                <a:moveTo>
                  <a:pt x="4262628" y="170434"/>
                </a:moveTo>
                <a:lnTo>
                  <a:pt x="4256532" y="125145"/>
                </a:lnTo>
                <a:lnTo>
                  <a:pt x="4239349" y="84429"/>
                </a:lnTo>
                <a:lnTo>
                  <a:pt x="4212691" y="49936"/>
                </a:lnTo>
                <a:lnTo>
                  <a:pt x="4178198" y="23279"/>
                </a:lnTo>
                <a:lnTo>
                  <a:pt x="4137482" y="6096"/>
                </a:lnTo>
                <a:lnTo>
                  <a:pt x="4092194" y="0"/>
                </a:lnTo>
                <a:lnTo>
                  <a:pt x="2317750" y="0"/>
                </a:lnTo>
                <a:lnTo>
                  <a:pt x="2272449" y="6096"/>
                </a:lnTo>
                <a:lnTo>
                  <a:pt x="2231733" y="23279"/>
                </a:lnTo>
                <a:lnTo>
                  <a:pt x="2197239" y="49936"/>
                </a:lnTo>
                <a:lnTo>
                  <a:pt x="2170582" y="84429"/>
                </a:lnTo>
                <a:lnTo>
                  <a:pt x="2153399" y="125145"/>
                </a:lnTo>
                <a:lnTo>
                  <a:pt x="2147316" y="170434"/>
                </a:lnTo>
                <a:lnTo>
                  <a:pt x="2147316" y="1537970"/>
                </a:lnTo>
                <a:lnTo>
                  <a:pt x="2153399" y="1583270"/>
                </a:lnTo>
                <a:lnTo>
                  <a:pt x="2170582" y="1623987"/>
                </a:lnTo>
                <a:lnTo>
                  <a:pt x="2197239" y="1658480"/>
                </a:lnTo>
                <a:lnTo>
                  <a:pt x="2231733" y="1685137"/>
                </a:lnTo>
                <a:lnTo>
                  <a:pt x="2272449" y="1702320"/>
                </a:lnTo>
                <a:lnTo>
                  <a:pt x="2317750" y="1708404"/>
                </a:lnTo>
                <a:lnTo>
                  <a:pt x="4092194" y="1708404"/>
                </a:lnTo>
                <a:lnTo>
                  <a:pt x="4137482" y="1702320"/>
                </a:lnTo>
                <a:lnTo>
                  <a:pt x="4178198" y="1685137"/>
                </a:lnTo>
                <a:lnTo>
                  <a:pt x="4212691" y="1658480"/>
                </a:lnTo>
                <a:lnTo>
                  <a:pt x="4239349" y="1623987"/>
                </a:lnTo>
                <a:lnTo>
                  <a:pt x="4256532" y="1583270"/>
                </a:lnTo>
                <a:lnTo>
                  <a:pt x="4262628" y="1537970"/>
                </a:lnTo>
                <a:lnTo>
                  <a:pt x="4262628" y="170434"/>
                </a:lnTo>
                <a:close/>
              </a:path>
              <a:path w="6410325" h="3447415">
                <a:moveTo>
                  <a:pt x="6409944" y="1909318"/>
                </a:moveTo>
                <a:lnTo>
                  <a:pt x="6403848" y="1864029"/>
                </a:lnTo>
                <a:lnTo>
                  <a:pt x="6386665" y="1823313"/>
                </a:lnTo>
                <a:lnTo>
                  <a:pt x="6360007" y="1788820"/>
                </a:lnTo>
                <a:lnTo>
                  <a:pt x="6325514" y="1762163"/>
                </a:lnTo>
                <a:lnTo>
                  <a:pt x="6284798" y="1744980"/>
                </a:lnTo>
                <a:lnTo>
                  <a:pt x="6239510" y="1738884"/>
                </a:lnTo>
                <a:lnTo>
                  <a:pt x="4465066" y="1738884"/>
                </a:lnTo>
                <a:lnTo>
                  <a:pt x="4419765" y="1744980"/>
                </a:lnTo>
                <a:lnTo>
                  <a:pt x="4379049" y="1762163"/>
                </a:lnTo>
                <a:lnTo>
                  <a:pt x="4344555" y="1788820"/>
                </a:lnTo>
                <a:lnTo>
                  <a:pt x="4317898" y="1823313"/>
                </a:lnTo>
                <a:lnTo>
                  <a:pt x="4300715" y="1864029"/>
                </a:lnTo>
                <a:lnTo>
                  <a:pt x="4294632" y="1909318"/>
                </a:lnTo>
                <a:lnTo>
                  <a:pt x="4294632" y="3276854"/>
                </a:lnTo>
                <a:lnTo>
                  <a:pt x="4300715" y="3322167"/>
                </a:lnTo>
                <a:lnTo>
                  <a:pt x="4317898" y="3362883"/>
                </a:lnTo>
                <a:lnTo>
                  <a:pt x="4344555" y="3397377"/>
                </a:lnTo>
                <a:lnTo>
                  <a:pt x="4379049" y="3424021"/>
                </a:lnTo>
                <a:lnTo>
                  <a:pt x="4419765" y="3441204"/>
                </a:lnTo>
                <a:lnTo>
                  <a:pt x="4465066" y="3447288"/>
                </a:lnTo>
                <a:lnTo>
                  <a:pt x="6239510" y="3447288"/>
                </a:lnTo>
                <a:lnTo>
                  <a:pt x="6284798" y="3441204"/>
                </a:lnTo>
                <a:lnTo>
                  <a:pt x="6325514" y="3424021"/>
                </a:lnTo>
                <a:lnTo>
                  <a:pt x="6360007" y="3397377"/>
                </a:lnTo>
                <a:lnTo>
                  <a:pt x="6386665" y="3362883"/>
                </a:lnTo>
                <a:lnTo>
                  <a:pt x="6403848" y="3322167"/>
                </a:lnTo>
                <a:lnTo>
                  <a:pt x="6409944" y="3276854"/>
                </a:lnTo>
                <a:lnTo>
                  <a:pt x="6409944" y="1909318"/>
                </a:lnTo>
                <a:close/>
              </a:path>
              <a:path w="6410325" h="3447415">
                <a:moveTo>
                  <a:pt x="6409944" y="170434"/>
                </a:moveTo>
                <a:lnTo>
                  <a:pt x="6403848" y="125145"/>
                </a:lnTo>
                <a:lnTo>
                  <a:pt x="6386665" y="84429"/>
                </a:lnTo>
                <a:lnTo>
                  <a:pt x="6360007" y="49936"/>
                </a:lnTo>
                <a:lnTo>
                  <a:pt x="6325514" y="23279"/>
                </a:lnTo>
                <a:lnTo>
                  <a:pt x="6284798" y="6096"/>
                </a:lnTo>
                <a:lnTo>
                  <a:pt x="6239510" y="0"/>
                </a:lnTo>
                <a:lnTo>
                  <a:pt x="4465066" y="0"/>
                </a:lnTo>
                <a:lnTo>
                  <a:pt x="4419765" y="6096"/>
                </a:lnTo>
                <a:lnTo>
                  <a:pt x="4379049" y="23279"/>
                </a:lnTo>
                <a:lnTo>
                  <a:pt x="4344555" y="49936"/>
                </a:lnTo>
                <a:lnTo>
                  <a:pt x="4317898" y="84429"/>
                </a:lnTo>
                <a:lnTo>
                  <a:pt x="4300715" y="125145"/>
                </a:lnTo>
                <a:lnTo>
                  <a:pt x="4294632" y="170434"/>
                </a:lnTo>
                <a:lnTo>
                  <a:pt x="4294632" y="1537970"/>
                </a:lnTo>
                <a:lnTo>
                  <a:pt x="4300715" y="1583270"/>
                </a:lnTo>
                <a:lnTo>
                  <a:pt x="4317898" y="1623987"/>
                </a:lnTo>
                <a:lnTo>
                  <a:pt x="4344555" y="1658480"/>
                </a:lnTo>
                <a:lnTo>
                  <a:pt x="4379049" y="1685137"/>
                </a:lnTo>
                <a:lnTo>
                  <a:pt x="4419765" y="1702320"/>
                </a:lnTo>
                <a:lnTo>
                  <a:pt x="4465066" y="1708404"/>
                </a:lnTo>
                <a:lnTo>
                  <a:pt x="6239510" y="1708404"/>
                </a:lnTo>
                <a:lnTo>
                  <a:pt x="6284798" y="1702320"/>
                </a:lnTo>
                <a:lnTo>
                  <a:pt x="6325514" y="1685137"/>
                </a:lnTo>
                <a:lnTo>
                  <a:pt x="6360007" y="1658480"/>
                </a:lnTo>
                <a:lnTo>
                  <a:pt x="6386665" y="1623987"/>
                </a:lnTo>
                <a:lnTo>
                  <a:pt x="6403848" y="1583270"/>
                </a:lnTo>
                <a:lnTo>
                  <a:pt x="6409944" y="1537970"/>
                </a:lnTo>
                <a:lnTo>
                  <a:pt x="6409944" y="170434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13931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ON-</a:t>
            </a:r>
            <a:r>
              <a:rPr dirty="0"/>
              <a:t>SITE </a:t>
            </a:r>
            <a:r>
              <a:rPr dirty="0" spc="-10"/>
              <a:t>SPONSORSHIP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989579" y="1679828"/>
            <a:ext cx="1605915" cy="772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Verdana"/>
                <a:cs typeface="Verdana"/>
              </a:rPr>
              <a:t>Temporary </a:t>
            </a:r>
            <a:r>
              <a:rPr dirty="0" sz="1600" b="1">
                <a:solidFill>
                  <a:srgbClr val="FFFFFF"/>
                </a:solidFill>
                <a:latin typeface="Verdana"/>
                <a:cs typeface="Verdana"/>
              </a:rPr>
              <a:t>Display</a:t>
            </a:r>
            <a:r>
              <a:rPr dirty="0" sz="1600" spc="-4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Verdana"/>
                <a:cs typeface="Verdana"/>
              </a:rPr>
              <a:t>Board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50,000/-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5135371" y="1679828"/>
            <a:ext cx="1608455" cy="772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Verdana"/>
                <a:cs typeface="Verdana"/>
              </a:rPr>
              <a:t>Walk-</a:t>
            </a:r>
            <a:r>
              <a:rPr dirty="0" sz="1600" b="1">
                <a:solidFill>
                  <a:srgbClr val="FFFFFF"/>
                </a:solidFill>
                <a:latin typeface="Verdana"/>
                <a:cs typeface="Verdana"/>
              </a:rPr>
              <a:t>Way</a:t>
            </a:r>
            <a:r>
              <a:rPr dirty="0" sz="1600" spc="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Verdana"/>
                <a:cs typeface="Verdana"/>
              </a:rPr>
              <a:t>bill </a:t>
            </a:r>
            <a:r>
              <a:rPr dirty="0" sz="1600" spc="-10" b="1">
                <a:solidFill>
                  <a:srgbClr val="FFFFFF"/>
                </a:solidFill>
                <a:latin typeface="Verdana"/>
                <a:cs typeface="Verdana"/>
              </a:rPr>
              <a:t>Boards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50,000/-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45528" y="1557909"/>
            <a:ext cx="1882775" cy="1016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0" b="1">
                <a:solidFill>
                  <a:srgbClr val="FFFFFF"/>
                </a:solidFill>
                <a:latin typeface="Verdana"/>
                <a:cs typeface="Verdana"/>
              </a:rPr>
              <a:t>Drop </a:t>
            </a:r>
            <a:r>
              <a:rPr dirty="0" sz="1600" spc="-10" b="1">
                <a:solidFill>
                  <a:srgbClr val="FFFFFF"/>
                </a:solidFill>
                <a:latin typeface="Verdana"/>
                <a:cs typeface="Verdana"/>
              </a:rPr>
              <a:t>Downs/Hanging Banners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50,000/-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9955" y="3257120"/>
            <a:ext cx="1681480" cy="99695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00"/>
              </a:spcBef>
            </a:pPr>
            <a:r>
              <a:rPr dirty="0" sz="1600" b="1">
                <a:solidFill>
                  <a:srgbClr val="FFFFFF"/>
                </a:solidFill>
                <a:latin typeface="Verdana"/>
                <a:cs typeface="Verdana"/>
              </a:rPr>
              <a:t>LED</a:t>
            </a:r>
            <a:r>
              <a:rPr dirty="0" sz="1600" spc="-4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Verdana"/>
                <a:cs typeface="Verdana"/>
              </a:rPr>
              <a:t>Display</a:t>
            </a:r>
            <a:endParaRPr sz="16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1,00,000/-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(For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days</a:t>
            </a:r>
            <a:r>
              <a:rPr dirty="0" sz="12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x</a:t>
            </a:r>
            <a:r>
              <a:rPr dirty="0" sz="12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20</a:t>
            </a:r>
            <a:r>
              <a:rPr dirty="0" sz="12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spots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1200" spc="-1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30</a:t>
            </a:r>
            <a:endParaRPr sz="1200">
              <a:latin typeface="Verdana"/>
              <a:cs typeface="Verdana"/>
            </a:endParaRPr>
          </a:p>
          <a:p>
            <a:pPr algn="ctr" marL="3810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sec</a:t>
            </a:r>
            <a:r>
              <a:rPr dirty="0" sz="12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each)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0132" y="3439966"/>
            <a:ext cx="1639570" cy="63055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600" b="1">
                <a:solidFill>
                  <a:srgbClr val="FFFFFF"/>
                </a:solidFill>
                <a:latin typeface="Verdana"/>
                <a:cs typeface="Verdana"/>
              </a:rPr>
              <a:t>Selfie</a:t>
            </a:r>
            <a:r>
              <a:rPr dirty="0" sz="1600" spc="-4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Verdana"/>
                <a:cs typeface="Verdana"/>
              </a:rPr>
              <a:t>Counter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60,000/-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04861" y="3328796"/>
            <a:ext cx="1363345" cy="955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66370" marR="157480" indent="-254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FFFFFF"/>
                </a:solidFill>
                <a:latin typeface="Verdana"/>
                <a:cs typeface="Verdana"/>
              </a:rPr>
              <a:t>B2C</a:t>
            </a:r>
            <a:r>
              <a:rPr dirty="0" sz="16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Verdana"/>
                <a:cs typeface="Verdana"/>
              </a:rPr>
              <a:t>Gift Branding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Rs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1,50,000/-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endParaRPr sz="120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25,000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pcs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13103"/>
            <a:ext cx="9144000" cy="3627120"/>
            <a:chOff x="0" y="1213103"/>
            <a:chExt cx="9144000" cy="3627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7711" y="1213103"/>
              <a:ext cx="3066288" cy="362712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13103"/>
              <a:ext cx="6035040" cy="3627120"/>
            </a:xfrm>
            <a:custGeom>
              <a:avLst/>
              <a:gdLst/>
              <a:ahLst/>
              <a:cxnLst/>
              <a:rect l="l" t="t" r="r" b="b"/>
              <a:pathLst>
                <a:path w="6035040" h="3627120">
                  <a:moveTo>
                    <a:pt x="6035040" y="0"/>
                  </a:moveTo>
                  <a:lnTo>
                    <a:pt x="0" y="0"/>
                  </a:lnTo>
                  <a:lnTo>
                    <a:pt x="0" y="3627120"/>
                  </a:lnTo>
                  <a:lnTo>
                    <a:pt x="6035040" y="3627120"/>
                  </a:lnTo>
                  <a:lnTo>
                    <a:pt x="603504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4606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ON-</a:t>
            </a:r>
            <a:r>
              <a:rPr dirty="0"/>
              <a:t>SITE </a:t>
            </a:r>
            <a:r>
              <a:rPr dirty="0" spc="-10"/>
              <a:t>BRANDING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9356" y="1358011"/>
            <a:ext cx="2628900" cy="681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NETWORKING</a:t>
            </a:r>
            <a:r>
              <a:rPr dirty="0" sz="1600" spc="-10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DINNER BRANDING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 3,00,000/-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356" y="2051430"/>
            <a:ext cx="2700020" cy="19615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43180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very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invitation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only,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networking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dinner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function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proposed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for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every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event.</a:t>
            </a:r>
            <a:endParaRPr sz="900">
              <a:latin typeface="Verdana"/>
              <a:cs typeface="Verdana"/>
            </a:endParaRPr>
          </a:p>
          <a:p>
            <a:pPr marL="194945" marR="20320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here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chance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meet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travel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trade.</a:t>
            </a:r>
            <a:endParaRPr sz="900">
              <a:latin typeface="Verdana"/>
              <a:cs typeface="Verdana"/>
            </a:endParaRPr>
          </a:p>
          <a:p>
            <a:pPr marL="194945" indent="-182245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right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place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make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mark.</a:t>
            </a:r>
            <a:endParaRPr sz="900">
              <a:latin typeface="Verdana"/>
              <a:cs typeface="Verdana"/>
            </a:endParaRPr>
          </a:p>
          <a:p>
            <a:pPr marL="194945" marR="50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focus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given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company</a:t>
            </a:r>
            <a:r>
              <a:rPr dirty="0" sz="900" spc="50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ideal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time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introduce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new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products/services</a:t>
            </a:r>
            <a:r>
              <a:rPr dirty="0" sz="900" spc="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having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10</a:t>
            </a:r>
            <a:r>
              <a:rPr dirty="0" sz="900" spc="-3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 b="1">
                <a:solidFill>
                  <a:srgbClr val="404040"/>
                </a:solidFill>
                <a:latin typeface="Verdana"/>
                <a:cs typeface="Verdana"/>
              </a:rPr>
              <a:t>minutes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presentation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before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dinner.</a:t>
            </a:r>
            <a:endParaRPr sz="900">
              <a:latin typeface="Verdana"/>
              <a:cs typeface="Verdana"/>
            </a:endParaRPr>
          </a:p>
          <a:p>
            <a:pPr marL="194945" marR="24765" indent="-182880">
              <a:lnSpc>
                <a:spcPct val="100000"/>
              </a:lnSpc>
              <a:spcBef>
                <a:spcPts val="305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coverage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given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company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stage</a:t>
            </a:r>
            <a:r>
              <a:rPr dirty="0" sz="900" spc="-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back</a:t>
            </a:r>
            <a:r>
              <a:rPr dirty="0" sz="900" spc="-3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drop</a:t>
            </a:r>
            <a:r>
              <a:rPr dirty="0" sz="900" spc="-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when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2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banner</a:t>
            </a:r>
            <a:r>
              <a:rPr dirty="0" sz="900" spc="-1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0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displayed</a:t>
            </a:r>
            <a:r>
              <a:rPr dirty="0" sz="900" spc="-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venue.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5385" y="1358011"/>
            <a:ext cx="2616835" cy="437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HELP</a:t>
            </a:r>
            <a:r>
              <a:rPr dirty="0" sz="1600" spc="-5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DESK</a:t>
            </a:r>
            <a:r>
              <a:rPr dirty="0" sz="1600" spc="-4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BRANDING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</a:t>
            </a:r>
            <a:r>
              <a:rPr dirty="0" sz="1100" spc="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Rs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1,00,000/-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5385" y="1807591"/>
            <a:ext cx="2667000" cy="1336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very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first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point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contact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all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exhibitors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delegates.</a:t>
            </a:r>
            <a:endParaRPr sz="900">
              <a:latin typeface="Verdana"/>
              <a:cs typeface="Verdana"/>
            </a:endParaRPr>
          </a:p>
          <a:p>
            <a:pPr marL="194945" marR="5461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 company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name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logo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Registration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Area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score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immense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visibility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offered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this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prime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location.</a:t>
            </a:r>
            <a:endParaRPr sz="900">
              <a:latin typeface="Verdana"/>
              <a:cs typeface="Verdana"/>
            </a:endParaRPr>
          </a:p>
          <a:p>
            <a:pPr marL="194945" marR="3048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19494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Area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also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offers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‘Help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Desk’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facility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where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repeat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exposure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travel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trade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invitees.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8960" y="1371600"/>
            <a:ext cx="0" cy="3310890"/>
          </a:xfrm>
          <a:custGeom>
            <a:avLst/>
            <a:gdLst/>
            <a:ahLst/>
            <a:cxnLst/>
            <a:rect l="l" t="t" r="r" b="b"/>
            <a:pathLst>
              <a:path w="0" h="3310890">
                <a:moveTo>
                  <a:pt x="0" y="0"/>
                </a:moveTo>
                <a:lnTo>
                  <a:pt x="0" y="3310661"/>
                </a:lnTo>
              </a:path>
            </a:pathLst>
          </a:custGeom>
          <a:ln w="6096">
            <a:solidFill>
              <a:srgbClr val="40404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6632" y="1211529"/>
            <a:ext cx="4087367" cy="362864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436495">
              <a:lnSpc>
                <a:spcPct val="100000"/>
              </a:lnSpc>
              <a:spcBef>
                <a:spcPts val="100"/>
              </a:spcBef>
            </a:pPr>
            <a:r>
              <a:rPr dirty="0"/>
              <a:t>VIP/MEDIA</a:t>
            </a:r>
            <a:r>
              <a:rPr dirty="0" spc="-50"/>
              <a:t> </a:t>
            </a:r>
            <a:r>
              <a:rPr dirty="0" spc="-10"/>
              <a:t>LOUNGE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0" y="1213103"/>
            <a:ext cx="5001895" cy="36271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156845" rIns="0" bIns="0" rtlCol="0" vert="horz">
            <a:spAutoFit/>
          </a:bodyPr>
          <a:lstStyle/>
          <a:p>
            <a:pPr marL="301625">
              <a:lnSpc>
                <a:spcPct val="100000"/>
              </a:lnSpc>
              <a:spcBef>
                <a:spcPts val="1235"/>
              </a:spcBef>
            </a:pP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INTERACTIVE</a:t>
            </a:r>
            <a:r>
              <a:rPr dirty="0" sz="1600" spc="-6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VIP</a:t>
            </a:r>
            <a:r>
              <a:rPr dirty="0" sz="1600" spc="-5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b="1">
                <a:solidFill>
                  <a:srgbClr val="A62221"/>
                </a:solidFill>
                <a:latin typeface="Verdana"/>
                <a:cs typeface="Verdana"/>
              </a:rPr>
              <a:t>MEDIA</a:t>
            </a:r>
            <a:r>
              <a:rPr dirty="0" sz="1600" spc="-5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600" spc="-10" b="1">
                <a:solidFill>
                  <a:srgbClr val="A62221"/>
                </a:solidFill>
                <a:latin typeface="Verdana"/>
                <a:cs typeface="Verdana"/>
              </a:rPr>
              <a:t>LOUNGE</a:t>
            </a:r>
            <a:endParaRPr sz="1600">
              <a:latin typeface="Verdana"/>
              <a:cs typeface="Verdana"/>
            </a:endParaRPr>
          </a:p>
          <a:p>
            <a:pPr marL="301625">
              <a:lnSpc>
                <a:spcPct val="100000"/>
              </a:lnSpc>
              <a:spcBef>
                <a:spcPts val="10"/>
              </a:spcBef>
            </a:pP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(1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Slot for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3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days</a:t>
            </a:r>
            <a:r>
              <a:rPr dirty="0" sz="1100" spc="-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each</a:t>
            </a:r>
            <a:r>
              <a:rPr dirty="0" sz="1100" spc="-15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A62221"/>
                </a:solidFill>
                <a:latin typeface="Verdana"/>
                <a:cs typeface="Verdana"/>
              </a:rPr>
              <a:t>City) Rs</a:t>
            </a:r>
            <a:r>
              <a:rPr dirty="0" sz="1100" spc="-20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A62221"/>
                </a:solidFill>
                <a:latin typeface="Verdana"/>
                <a:cs typeface="Verdana"/>
              </a:rPr>
              <a:t>3,00,000/-</a:t>
            </a:r>
            <a:endParaRPr sz="1100">
              <a:latin typeface="Verdana"/>
              <a:cs typeface="Verdana"/>
            </a:endParaRPr>
          </a:p>
          <a:p>
            <a:pPr marL="484505" marR="589915" indent="-182880">
              <a:lnSpc>
                <a:spcPct val="100000"/>
              </a:lnSpc>
              <a:spcBef>
                <a:spcPts val="295"/>
              </a:spcBef>
              <a:buClr>
                <a:srgbClr val="A62221"/>
              </a:buClr>
              <a:buFont typeface="Wingdings"/>
              <a:buChar char=""/>
              <a:tabLst>
                <a:tab pos="48450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very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invitation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only,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interactive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networking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lounge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with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exclusive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media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interaction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add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value.</a:t>
            </a:r>
            <a:endParaRPr sz="900">
              <a:latin typeface="Verdana"/>
              <a:cs typeface="Verdana"/>
            </a:endParaRPr>
          </a:p>
          <a:p>
            <a:pPr marL="484505" marR="51752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484505" algn="l"/>
              </a:tabLst>
            </a:pP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Pre-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coverage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post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coverage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from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Local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National Media.</a:t>
            </a:r>
            <a:endParaRPr sz="900">
              <a:latin typeface="Verdana"/>
              <a:cs typeface="Verdana"/>
            </a:endParaRPr>
          </a:p>
          <a:p>
            <a:pPr marL="484505" marR="784860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48450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Special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focus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given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company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having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404040"/>
                </a:solidFill>
                <a:latin typeface="Verdana"/>
                <a:cs typeface="Verdana"/>
              </a:rPr>
              <a:t>10</a:t>
            </a:r>
            <a:r>
              <a:rPr dirty="0" sz="900" spc="-25" b="1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 b="1">
                <a:solidFill>
                  <a:srgbClr val="404040"/>
                </a:solidFill>
                <a:latin typeface="Verdana"/>
                <a:cs typeface="Verdana"/>
              </a:rPr>
              <a:t>minutes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interaction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media.</a:t>
            </a:r>
            <a:endParaRPr sz="900">
              <a:latin typeface="Verdana"/>
              <a:cs typeface="Verdana"/>
            </a:endParaRPr>
          </a:p>
          <a:p>
            <a:pPr marL="484505" marR="358775" indent="-182880">
              <a:lnSpc>
                <a:spcPct val="100000"/>
              </a:lnSpc>
              <a:spcBef>
                <a:spcPts val="300"/>
              </a:spcBef>
              <a:buClr>
                <a:srgbClr val="A62221"/>
              </a:buClr>
              <a:buFont typeface="Wingdings"/>
              <a:buChar char=""/>
              <a:tabLst>
                <a:tab pos="484505" algn="l"/>
              </a:tabLst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company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name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lounge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score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immense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visibility,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offered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254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prime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location.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3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285365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dirty="0" spc="-30"/>
              <a:t> </a:t>
            </a:r>
            <a:r>
              <a:rPr dirty="0" spc="-10"/>
              <a:t>SPONSORSHIP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1185" y="3259106"/>
            <a:ext cx="2808605" cy="70866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Buyers</a:t>
            </a:r>
            <a:r>
              <a:rPr dirty="0" sz="1200" spc="-3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&amp;</a:t>
            </a:r>
            <a:r>
              <a:rPr dirty="0" sz="1200" spc="-3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Sellers</a:t>
            </a:r>
            <a:r>
              <a:rPr dirty="0" sz="1200" spc="-1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Kit</a:t>
            </a:r>
            <a:r>
              <a:rPr dirty="0" sz="1200" spc="-2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A62221"/>
                </a:solidFill>
                <a:latin typeface="Verdana"/>
                <a:cs typeface="Verdana"/>
              </a:rPr>
              <a:t>Bags</a:t>
            </a:r>
            <a:endParaRPr sz="1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logo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appear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bag.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Welcome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bags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containing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information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about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exhibition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will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distributed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Sellers,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Buyers.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52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Rs.1,00,000/-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4398" y="3259106"/>
            <a:ext cx="2773045" cy="845819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95"/>
              </a:spcBef>
            </a:pP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Lanyard</a:t>
            </a:r>
            <a:endParaRPr sz="1200">
              <a:latin typeface="Verdana"/>
              <a:cs typeface="Verdana"/>
            </a:endParaRPr>
          </a:p>
          <a:p>
            <a:pPr algn="ctr" marL="12700" marR="5080" indent="635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logo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appear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lanyard.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Attractive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lanyards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produced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hold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entry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badges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distributed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exhibitors,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trade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visitors,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press,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delegates,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VIPs.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7539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Rs.75,000/-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45453" y="3259106"/>
            <a:ext cx="2802255" cy="9829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Exhibitors</a:t>
            </a:r>
            <a:r>
              <a:rPr dirty="0" sz="1200" spc="-6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25" b="1">
                <a:solidFill>
                  <a:srgbClr val="A62221"/>
                </a:solidFill>
                <a:latin typeface="Verdana"/>
                <a:cs typeface="Verdana"/>
              </a:rPr>
              <a:t>Kit</a:t>
            </a:r>
            <a:endParaRPr sz="1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Provide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visitors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bags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help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them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collect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information.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logo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message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will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appear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show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carry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bags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distributed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from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registration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help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desk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counters.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3328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Rs.2,00,000/-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179" y="976883"/>
            <a:ext cx="2798445" cy="2181225"/>
            <a:chOff x="297179" y="976883"/>
            <a:chExt cx="2798445" cy="2181225"/>
          </a:xfrm>
        </p:grpSpPr>
        <p:sp>
          <p:nvSpPr>
            <p:cNvPr id="11" name="object 11"/>
            <p:cNvSpPr/>
            <p:nvPr/>
          </p:nvSpPr>
          <p:spPr>
            <a:xfrm>
              <a:off x="301751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2743" y="1165699"/>
              <a:ext cx="1866716" cy="180321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172967" y="976883"/>
            <a:ext cx="2798445" cy="2181225"/>
            <a:chOff x="3172967" y="976883"/>
            <a:chExt cx="2798445" cy="2181225"/>
          </a:xfrm>
        </p:grpSpPr>
        <p:sp>
          <p:nvSpPr>
            <p:cNvPr id="14" name="object 14"/>
            <p:cNvSpPr/>
            <p:nvPr/>
          </p:nvSpPr>
          <p:spPr>
            <a:xfrm>
              <a:off x="3177539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19" y="2171700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32536" y="2221831"/>
              <a:ext cx="2412003" cy="3628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459" y="1885187"/>
              <a:ext cx="2545080" cy="39471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99459" y="1551431"/>
              <a:ext cx="2545080" cy="394715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048755" y="976883"/>
            <a:ext cx="2798445" cy="2181225"/>
            <a:chOff x="6048755" y="976883"/>
            <a:chExt cx="2798445" cy="2181225"/>
          </a:xfrm>
        </p:grpSpPr>
        <p:sp>
          <p:nvSpPr>
            <p:cNvPr id="19" name="object 19"/>
            <p:cNvSpPr/>
            <p:nvPr/>
          </p:nvSpPr>
          <p:spPr>
            <a:xfrm>
              <a:off x="6053327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5162" y="1208107"/>
              <a:ext cx="1824518" cy="1669947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6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03505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285365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dirty="0" spc="-30"/>
              <a:t> </a:t>
            </a:r>
            <a:r>
              <a:rPr dirty="0" spc="-10"/>
              <a:t>SPONSORSHIP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5556" y="3259106"/>
            <a:ext cx="2661285" cy="845819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Drinking</a:t>
            </a:r>
            <a:r>
              <a:rPr dirty="0" sz="1200" spc="-5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A62221"/>
                </a:solidFill>
                <a:latin typeface="Verdana"/>
                <a:cs typeface="Verdana"/>
              </a:rPr>
              <a:t>Water</a:t>
            </a:r>
            <a:endParaRPr sz="1200">
              <a:latin typeface="Verdana"/>
              <a:cs typeface="Verdana"/>
            </a:endParaRPr>
          </a:p>
          <a:p>
            <a:pPr algn="ctr" marL="12065" marR="508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5000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drinking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water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bottles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distributed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exhibitors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kept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Buyers'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lounges.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Sponsoring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cost-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effective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means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generate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goodwill.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52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Rs.1,00,000/-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498" y="3259106"/>
            <a:ext cx="2695575" cy="9829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495"/>
              </a:spcBef>
            </a:pP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Badges</a:t>
            </a:r>
            <a:endParaRPr sz="1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badge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widely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distributed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and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most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visible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element.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Badges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provided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all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participants,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trade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visitors,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press,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delegates,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VIPs.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logo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appear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the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section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badge.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7539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Rs.75,000/-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2885" y="3259106"/>
            <a:ext cx="2750820" cy="9829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Exhibitors</a:t>
            </a:r>
            <a:r>
              <a:rPr dirty="0" sz="1200" spc="-60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Directory</a:t>
            </a:r>
            <a:endParaRPr sz="1200">
              <a:latin typeface="Verdana"/>
              <a:cs typeface="Verdana"/>
            </a:endParaRPr>
          </a:p>
          <a:p>
            <a:pPr algn="ctr" marL="12700" marR="5080" indent="-635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Directory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has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an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enormously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long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shelf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life,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as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it’s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becomes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Reference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Source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buyers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&amp;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sellers,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full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page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advertisement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your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company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offers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along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lasting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visibility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at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as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well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post-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event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visibility.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3328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Rs.25,000/-</a:t>
            </a:r>
            <a:r>
              <a:rPr dirty="0" sz="9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(Only</a:t>
            </a:r>
            <a:r>
              <a:rPr dirty="0" sz="9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9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FFFFFF"/>
                </a:solidFill>
                <a:latin typeface="Verdana"/>
                <a:cs typeface="Verdana"/>
              </a:rPr>
              <a:t>logo)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179" y="976883"/>
            <a:ext cx="2798445" cy="2181225"/>
            <a:chOff x="297179" y="976883"/>
            <a:chExt cx="2798445" cy="2181225"/>
          </a:xfrm>
        </p:grpSpPr>
        <p:sp>
          <p:nvSpPr>
            <p:cNvPr id="11" name="object 11"/>
            <p:cNvSpPr/>
            <p:nvPr/>
          </p:nvSpPr>
          <p:spPr>
            <a:xfrm>
              <a:off x="301751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167" y="1150924"/>
              <a:ext cx="1547938" cy="193388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172967" y="976883"/>
            <a:ext cx="2798445" cy="2181225"/>
            <a:chOff x="3172967" y="976883"/>
            <a:chExt cx="2798445" cy="2181225"/>
          </a:xfrm>
        </p:grpSpPr>
        <p:sp>
          <p:nvSpPr>
            <p:cNvPr id="14" name="object 14"/>
            <p:cNvSpPr/>
            <p:nvPr/>
          </p:nvSpPr>
          <p:spPr>
            <a:xfrm>
              <a:off x="3177539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19" y="2171700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8101" y="1360787"/>
              <a:ext cx="2165199" cy="1404724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048755" y="976883"/>
            <a:ext cx="2798445" cy="2181225"/>
            <a:chOff x="6048755" y="976883"/>
            <a:chExt cx="2798445" cy="2181225"/>
          </a:xfrm>
        </p:grpSpPr>
        <p:sp>
          <p:nvSpPr>
            <p:cNvPr id="17" name="object 17"/>
            <p:cNvSpPr/>
            <p:nvPr/>
          </p:nvSpPr>
          <p:spPr>
            <a:xfrm>
              <a:off x="6053327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4095" y="1252727"/>
              <a:ext cx="1167383" cy="162915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5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65285" y="5008939"/>
            <a:ext cx="90805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5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2285365">
              <a:lnSpc>
                <a:spcPct val="100000"/>
              </a:lnSpc>
              <a:spcBef>
                <a:spcPts val="100"/>
              </a:spcBef>
            </a:pPr>
            <a:r>
              <a:rPr dirty="0"/>
              <a:t>OTHER</a:t>
            </a:r>
            <a:r>
              <a:rPr dirty="0" spc="-30"/>
              <a:t> </a:t>
            </a:r>
            <a:r>
              <a:rPr dirty="0" spc="-10"/>
              <a:t>SPONSORSHIP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665" y="3259106"/>
            <a:ext cx="2746375" cy="70866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95"/>
              </a:spcBef>
            </a:pP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Souvenirs</a:t>
            </a:r>
            <a:endParaRPr sz="1200">
              <a:latin typeface="Verdana"/>
              <a:cs typeface="Verdana"/>
            </a:endParaRPr>
          </a:p>
          <a:p>
            <a:pPr algn="ctr" marL="12700" marR="5080" indent="1905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Reach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trade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invitees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gifting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them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memorable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souvenir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choice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your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logo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printed.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52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Rs.1,00,000/-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257" y="3259106"/>
            <a:ext cx="2729865" cy="57150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T</a:t>
            </a:r>
            <a:r>
              <a:rPr dirty="0" sz="1200" spc="-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-</a:t>
            </a:r>
            <a:r>
              <a:rPr dirty="0" sz="1200" spc="-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Shirts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Get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brand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featured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250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T-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SHIRTS,</a:t>
            </a:r>
            <a:endParaRPr sz="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custom-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made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souvenirs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event.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7539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6291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Rs.50,000/-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66790" y="3259106"/>
            <a:ext cx="2762885" cy="98298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495"/>
              </a:spcBef>
            </a:pPr>
            <a:r>
              <a:rPr dirty="0" sz="1200" b="1">
                <a:solidFill>
                  <a:srgbClr val="A62221"/>
                </a:solidFill>
                <a:latin typeface="Verdana"/>
                <a:cs typeface="Verdana"/>
              </a:rPr>
              <a:t>Print</a:t>
            </a:r>
            <a:r>
              <a:rPr dirty="0" sz="1200" spc="-25" b="1">
                <a:solidFill>
                  <a:srgbClr val="A62221"/>
                </a:solidFill>
                <a:latin typeface="Verdana"/>
                <a:cs typeface="Verdana"/>
              </a:rPr>
              <a:t> </a:t>
            </a:r>
            <a:r>
              <a:rPr dirty="0" sz="1200" spc="-10" b="1">
                <a:solidFill>
                  <a:srgbClr val="A62221"/>
                </a:solidFill>
                <a:latin typeface="Verdana"/>
                <a:cs typeface="Verdana"/>
              </a:rPr>
              <a:t>Material</a:t>
            </a:r>
            <a:endParaRPr sz="1200">
              <a:latin typeface="Verdana"/>
              <a:cs typeface="Verdana"/>
            </a:endParaRPr>
          </a:p>
          <a:p>
            <a:pPr algn="ctr" marL="12700" marR="508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offer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package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so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dirty="0" sz="900" spc="-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reach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out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trade</a:t>
            </a:r>
            <a:r>
              <a:rPr dirty="0" sz="900" spc="-5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people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missed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meeting.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include</a:t>
            </a:r>
            <a:r>
              <a:rPr dirty="0" sz="900" spc="-5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brochure/print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material,</a:t>
            </a:r>
            <a:r>
              <a:rPr dirty="0" sz="900" spc="-7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souvenirs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kit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bag</a:t>
            </a:r>
            <a:r>
              <a:rPr dirty="0" sz="900" spc="-2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we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give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every</a:t>
            </a:r>
            <a:r>
              <a:rPr dirty="0" sz="900" spc="-1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tour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operator/travel</a:t>
            </a:r>
            <a:r>
              <a:rPr dirty="0" sz="900" spc="6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agent/exhibitor.</a:t>
            </a:r>
            <a:endParaRPr sz="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3328" y="4299203"/>
            <a:ext cx="2788920" cy="238125"/>
          </a:xfrm>
          <a:prstGeom prst="rect">
            <a:avLst/>
          </a:prstGeom>
          <a:solidFill>
            <a:srgbClr val="A62221"/>
          </a:solidFill>
        </p:spPr>
        <p:txBody>
          <a:bodyPr wrap="square" lIns="0" tIns="48895" rIns="0" bIns="0" rtlCol="0" vert="horz">
            <a:spAutoFit/>
          </a:bodyPr>
          <a:lstStyle/>
          <a:p>
            <a:pPr marL="405765">
              <a:lnSpc>
                <a:spcPct val="100000"/>
              </a:lnSpc>
              <a:spcBef>
                <a:spcPts val="385"/>
              </a:spcBef>
            </a:pP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Slots:</a:t>
            </a:r>
            <a:r>
              <a:rPr dirty="0" sz="9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dirty="0" sz="90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9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b="1">
                <a:solidFill>
                  <a:srgbClr val="FFFFFF"/>
                </a:solidFill>
                <a:latin typeface="Verdana"/>
                <a:cs typeface="Verdana"/>
              </a:rPr>
              <a:t>Charges:</a:t>
            </a:r>
            <a:r>
              <a:rPr dirty="0" sz="900" spc="-1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Verdana"/>
                <a:cs typeface="Verdana"/>
              </a:rPr>
              <a:t>Rs.1,00,000/-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7179" y="976883"/>
            <a:ext cx="2798445" cy="2181225"/>
            <a:chOff x="297179" y="976883"/>
            <a:chExt cx="2798445" cy="2181225"/>
          </a:xfrm>
        </p:grpSpPr>
        <p:sp>
          <p:nvSpPr>
            <p:cNvPr id="11" name="object 11"/>
            <p:cNvSpPr/>
            <p:nvPr/>
          </p:nvSpPr>
          <p:spPr>
            <a:xfrm>
              <a:off x="301751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871" y="1298447"/>
              <a:ext cx="1629155" cy="153771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172967" y="976883"/>
            <a:ext cx="2798445" cy="2181225"/>
            <a:chOff x="3172967" y="976883"/>
            <a:chExt cx="2798445" cy="2181225"/>
          </a:xfrm>
        </p:grpSpPr>
        <p:sp>
          <p:nvSpPr>
            <p:cNvPr id="14" name="object 14"/>
            <p:cNvSpPr/>
            <p:nvPr/>
          </p:nvSpPr>
          <p:spPr>
            <a:xfrm>
              <a:off x="3177539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19" y="2171700"/>
                  </a:lnTo>
                  <a:lnTo>
                    <a:pt x="2788919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6828" y="1246357"/>
              <a:ext cx="1803095" cy="1596173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048755" y="976883"/>
            <a:ext cx="2798445" cy="2181225"/>
            <a:chOff x="6048755" y="976883"/>
            <a:chExt cx="2798445" cy="2181225"/>
          </a:xfrm>
        </p:grpSpPr>
        <p:sp>
          <p:nvSpPr>
            <p:cNvPr id="17" name="object 17"/>
            <p:cNvSpPr/>
            <p:nvPr/>
          </p:nvSpPr>
          <p:spPr>
            <a:xfrm>
              <a:off x="6053327" y="981455"/>
              <a:ext cx="2788920" cy="2171700"/>
            </a:xfrm>
            <a:custGeom>
              <a:avLst/>
              <a:gdLst/>
              <a:ahLst/>
              <a:cxnLst/>
              <a:rect l="l" t="t" r="r" b="b"/>
              <a:pathLst>
                <a:path w="2788920" h="2171700">
                  <a:moveTo>
                    <a:pt x="0" y="2171700"/>
                  </a:moveTo>
                  <a:lnTo>
                    <a:pt x="2788920" y="2171700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2171700"/>
                  </a:lnTo>
                  <a:close/>
                </a:path>
              </a:pathLst>
            </a:custGeom>
            <a:ln w="914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5237" y="1156715"/>
              <a:ext cx="1899933" cy="169786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5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796" rIns="0" bIns="0" rtlCol="0" vert="horz">
            <a:spAutoFit/>
          </a:bodyPr>
          <a:lstStyle/>
          <a:p>
            <a:pPr marL="1375410">
              <a:lnSpc>
                <a:spcPct val="100000"/>
              </a:lnSpc>
              <a:spcBef>
                <a:spcPts val="100"/>
              </a:spcBef>
            </a:pPr>
            <a:r>
              <a:rPr dirty="0"/>
              <a:t>Advertisement</a:t>
            </a:r>
            <a:r>
              <a:rPr dirty="0" spc="-70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/>
              <a:t>IITM</a:t>
            </a:r>
            <a:r>
              <a:rPr dirty="0" spc="-50"/>
              <a:t> </a:t>
            </a:r>
            <a:r>
              <a:rPr dirty="0" spc="-10"/>
              <a:t>Directory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5023103"/>
            <a:ext cx="9144000" cy="120650"/>
          </a:xfrm>
          <a:custGeom>
            <a:avLst/>
            <a:gdLst/>
            <a:ahLst/>
            <a:cxnLst/>
            <a:rect l="l" t="t" r="r" b="b"/>
            <a:pathLst>
              <a:path w="9144000" h="120650">
                <a:moveTo>
                  <a:pt x="9144000" y="0"/>
                </a:moveTo>
                <a:lnTo>
                  <a:pt x="0" y="0"/>
                </a:lnTo>
                <a:lnTo>
                  <a:pt x="0" y="120396"/>
                </a:lnTo>
                <a:lnTo>
                  <a:pt x="9144000" y="120396"/>
                </a:lnTo>
                <a:lnTo>
                  <a:pt x="9144000" y="0"/>
                </a:lnTo>
                <a:close/>
              </a:path>
            </a:pathLst>
          </a:custGeom>
          <a:solidFill>
            <a:srgbClr val="A6222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5567" y="968502"/>
          <a:ext cx="8629650" cy="185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6705"/>
                <a:gridCol w="2846705"/>
                <a:gridCol w="2846705"/>
              </a:tblGrid>
              <a:tr h="383540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14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Exhibition</a:t>
                      </a:r>
                      <a:r>
                        <a:rPr dirty="0" sz="14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Directory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7366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solidFill>
                      <a:srgbClr val="A6222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3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Double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Spread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(420mm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1200" spc="-2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297mm)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Rs.</a:t>
                      </a:r>
                      <a:r>
                        <a:rPr dirty="0"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2,50,000/-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Back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Cover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(210mm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297mm)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Rs.</a:t>
                      </a:r>
                      <a:r>
                        <a:rPr dirty="0"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1,50,000/-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Inner</a:t>
                      </a:r>
                      <a:r>
                        <a:rPr dirty="0" sz="1200" spc="-4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Cover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(210mm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297mm)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Rs.</a:t>
                      </a:r>
                      <a:r>
                        <a:rPr dirty="0"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75,000/-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Page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(210mm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dirty="0" sz="1200" spc="-3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297mm)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dirty="0" sz="12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Rs.</a:t>
                      </a:r>
                      <a:r>
                        <a:rPr dirty="0" sz="1200" spc="-1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20,000/-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L w="12700">
                      <a:solidFill>
                        <a:srgbClr val="A62221"/>
                      </a:solidFill>
                      <a:prstDash val="solid"/>
                    </a:lnL>
                    <a:lnR w="12700">
                      <a:solidFill>
                        <a:srgbClr val="A62221"/>
                      </a:solidFill>
                      <a:prstDash val="solid"/>
                    </a:lnR>
                    <a:lnT w="12700">
                      <a:solidFill>
                        <a:srgbClr val="A62221"/>
                      </a:solidFill>
                      <a:prstDash val="solid"/>
                    </a:lnT>
                    <a:lnB w="12700">
                      <a:solidFill>
                        <a:srgbClr val="A6222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2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289356" y="2927095"/>
            <a:ext cx="2760980" cy="37592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Advertisement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artwork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dirty="0" sz="900" spc="-3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dirty="0" sz="900" spc="-45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provided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dirty="0" sz="900" spc="-4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Verdana"/>
                <a:cs typeface="Verdana"/>
              </a:rPr>
              <a:t>you.</a:t>
            </a:r>
            <a:endParaRPr sz="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404040"/>
                </a:solidFill>
                <a:latin typeface="Verdana"/>
                <a:cs typeface="Verdana"/>
              </a:rPr>
              <a:t>*Tax</a:t>
            </a:r>
            <a:r>
              <a:rPr dirty="0" sz="900" spc="-3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Verdana"/>
                <a:cs typeface="Verdana"/>
              </a:rPr>
              <a:t>Applicable</a:t>
            </a:r>
            <a:endParaRPr sz="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238880" y="1666697"/>
            <a:ext cx="36677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FFFFFF"/>
                </a:solidFill>
                <a:latin typeface="Verdana"/>
                <a:cs typeface="Verdana"/>
              </a:rPr>
              <a:t>THANK</a:t>
            </a:r>
            <a:r>
              <a:rPr dirty="0" sz="4800" spc="-1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800" spc="-25">
                <a:solidFill>
                  <a:srgbClr val="FFFFFF"/>
                </a:solidFill>
                <a:latin typeface="Verdana"/>
                <a:cs typeface="Verdana"/>
              </a:rPr>
              <a:t>YOU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8880" y="2404364"/>
            <a:ext cx="3694429" cy="1062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417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Verdana"/>
                <a:cs typeface="Verdana"/>
              </a:rPr>
              <a:t>Sphere</a:t>
            </a:r>
            <a:r>
              <a:rPr dirty="0" sz="12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Verdana"/>
                <a:cs typeface="Verdana"/>
              </a:rPr>
              <a:t>Travelmedia</a:t>
            </a:r>
            <a:r>
              <a:rPr dirty="0" sz="12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dirty="0" sz="12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Verdana"/>
                <a:cs typeface="Verdana"/>
              </a:rPr>
              <a:t>Exhibitions</a:t>
            </a:r>
            <a:r>
              <a:rPr dirty="0" sz="1200" spc="-3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b="1">
                <a:solidFill>
                  <a:srgbClr val="FFFFFF"/>
                </a:solidFill>
                <a:latin typeface="Verdana"/>
                <a:cs typeface="Verdana"/>
              </a:rPr>
              <a:t>Pvt.</a:t>
            </a:r>
            <a:r>
              <a:rPr dirty="0" sz="1200" spc="-2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0" b="1">
                <a:solidFill>
                  <a:srgbClr val="FFFFFF"/>
                </a:solidFill>
                <a:latin typeface="Verdana"/>
                <a:cs typeface="Verdana"/>
              </a:rPr>
              <a:t>Ltd.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#245</a:t>
            </a:r>
            <a:r>
              <a:rPr dirty="0" sz="120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Amar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Jyothi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Layout,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Bangalore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560071,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Karnataka,</a:t>
            </a:r>
            <a:r>
              <a:rPr dirty="0" sz="120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India.</a:t>
            </a:r>
            <a:endParaRPr sz="12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Office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Verdana"/>
                <a:cs typeface="Verdana"/>
              </a:rPr>
              <a:t>Tel:</a:t>
            </a:r>
            <a:r>
              <a:rPr dirty="0" sz="120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+91</a:t>
            </a:r>
            <a:r>
              <a:rPr dirty="0" sz="12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80</a:t>
            </a:r>
            <a:r>
              <a:rPr dirty="0" sz="12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40834100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9372" y="1571244"/>
            <a:ext cx="2611120" cy="2302510"/>
            <a:chOff x="309372" y="1571244"/>
            <a:chExt cx="2611120" cy="2302510"/>
          </a:xfrm>
        </p:grpSpPr>
        <p:sp>
          <p:nvSpPr>
            <p:cNvPr id="5" name="object 5"/>
            <p:cNvSpPr/>
            <p:nvPr/>
          </p:nvSpPr>
          <p:spPr>
            <a:xfrm>
              <a:off x="2915411" y="1571244"/>
              <a:ext cx="0" cy="2302510"/>
            </a:xfrm>
            <a:custGeom>
              <a:avLst/>
              <a:gdLst/>
              <a:ahLst/>
              <a:cxnLst/>
              <a:rect l="l" t="t" r="r" b="b"/>
              <a:pathLst>
                <a:path w="0" h="2302510">
                  <a:moveTo>
                    <a:pt x="0" y="0"/>
                  </a:moveTo>
                  <a:lnTo>
                    <a:pt x="0" y="2302129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372" y="2203704"/>
              <a:ext cx="2296667" cy="73609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451352" y="4376115"/>
            <a:ext cx="22434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404040"/>
                </a:solidFill>
                <a:latin typeface="Verdana"/>
                <a:cs typeface="Verdana"/>
                <a:hlinkClick r:id="rId3"/>
              </a:rPr>
              <a:t>www.spheretravelmedia.com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356" y="5008939"/>
            <a:ext cx="1003300" cy="1498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>
                <a:solidFill>
                  <a:srgbClr val="FFFFFF"/>
                </a:solidFill>
                <a:latin typeface="Verdana"/>
                <a:cs typeface="Verdana"/>
                <a:hlinkClick r:id="rId4"/>
              </a:rPr>
              <a:t>www.iitmindia.com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G50</dc:creator>
  <dc:title>PowerPoint Presentation</dc:title>
  <dcterms:created xsi:type="dcterms:W3CDTF">2026-05-06T09:39:39Z</dcterms:created>
  <dcterms:modified xsi:type="dcterms:W3CDTF">2026-05-06T09:39:39Z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2018-12-07T00:00:00Z</vt:filetime>
  </property>
  <property fmtid="{D5CDD505-2E9C-101B-9397-08002B2CF9AE}" pid="4" name="Creator">
    <vt:lpwstr>Microsoft® PowerPoint® 2013</vt:lpwstr>
  </property>
  <property fmtid="{D5CDD505-2E9C-101B-9397-08002B2CF9AE}" pid="5" name="LastSaved">
    <vt:filetime>2026-05-06T00:00:00Z</vt:filetime>
  </property>
  <property fmtid="{D5CDD505-2E9C-101B-9397-08002B2CF9AE}" pid="6" name="Producer">
    <vt:lpwstr>Microsoft® PowerPoint® 2013</vt:lpwstr>
  </property>
</Properties>
</file>